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7" r:id="rId4"/>
    <p:sldId id="271" r:id="rId5"/>
    <p:sldId id="259" r:id="rId6"/>
    <p:sldId id="270" r:id="rId7"/>
    <p:sldId id="269" r:id="rId8"/>
    <p:sldId id="272" r:id="rId9"/>
    <p:sldId id="273" r:id="rId10"/>
    <p:sldId id="262" r:id="rId11"/>
    <p:sldId id="263" r:id="rId12"/>
    <p:sldId id="258" r:id="rId13"/>
    <p:sldId id="264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7025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7A7D7-7A52-4BE7-FE60-1DF1FB3D2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45E701-4D0C-F146-8EED-4E03B5794A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6E651D-7E97-6EE6-C50A-1D09D445D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A32846-50EB-95A9-97CA-EC22C2F8FD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969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BC472-5184-59E6-4114-04473FCC9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24E70B-7A63-2D1B-6F72-B2BFDBC6D7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D318D2-8248-0DE3-A129-7EEE7818F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393E7E-DDD6-00E7-853F-963A4740F2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853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61151-BE3B-4627-B45D-D1AA7DDEC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632C7-5E88-8BCB-2F52-D5F69B86C8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805418-A32A-F8B0-1367-6E8686707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50C8C-D61C-C9B0-AACC-C953722AD0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795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6BA4-612E-8D7A-2516-7EE16A244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2ABFE7-31E8-32AA-8BF3-39B0EE3AF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80B8F5-1CCF-68D7-F6F7-58FADD867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60F319-1801-4668-478A-C58A0B57BE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2196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842E2-04B6-25C0-4F82-47274AA7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EB4A4-5F99-BD21-E559-2669C72FB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9208C0-E36A-A557-FE01-C2FBAFF4AD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A6A4C-C24F-627D-D19A-C6601B8277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2883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821B1-8065-BDD7-2C81-7B3EDDF4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2BB50-F7C9-57DD-CC54-ADB78A9A8F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58B147-3456-9525-2731-F192210B4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54364-E714-BD37-1402-01F45D9BAF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5325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943600" y="-1097280"/>
            <a:ext cx="5029200" cy="5029200"/>
          </a:xfrm>
          <a:prstGeom prst="ellipse">
            <a:avLst/>
          </a:prstGeom>
          <a:solidFill>
            <a:srgbClr val="0E5C63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858000" y="182880"/>
            <a:ext cx="3200400" cy="3200400"/>
          </a:xfrm>
          <a:prstGeom prst="ellipse">
            <a:avLst/>
          </a:prstGeom>
          <a:solidFill>
            <a:srgbClr val="14939E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0" y="36576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2DC6AD">
                    <a:alpha val="60000"/>
                  </a:srgbClr>
                </a:solidFill>
              </a:rPr>
              <a:t>℞</a:t>
            </a:r>
            <a:endParaRPr lang="en-US" sz="12000" dirty="0"/>
          </a:p>
        </p:txBody>
      </p:sp>
      <p:sp>
        <p:nvSpPr>
          <p:cNvPr id="6" name="Text 4"/>
          <p:cNvSpPr/>
          <p:nvPr/>
        </p:nvSpPr>
        <p:spPr>
          <a:xfrm>
            <a:off x="594360" y="109728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e-commerce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94360" y="23774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2DC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OOP-Based Console Application in C++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4360" y="3063240"/>
            <a:ext cx="5029200" cy="41148"/>
          </a:xfrm>
          <a:prstGeom prst="rect">
            <a:avLst/>
          </a:prstGeom>
          <a:solidFill>
            <a:srgbClr val="6B8FA3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4219731"/>
            <a:ext cx="8229600" cy="763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8FA3"/>
                </a:solidFill>
              </a:rPr>
              <a:t>By: 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6B8FA3"/>
                </a:solidFill>
              </a:rPr>
              <a:t>Vishal Balasubramanian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6B8FA3"/>
                </a:solidFill>
              </a:rPr>
              <a:t>Titus Samuel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6B8FA3"/>
                </a:solidFill>
              </a:rPr>
              <a:t>Vignesh 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34561"/>
            <a:ext cx="8229600" cy="1464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console-based Pharmacy Management System written in C++ that models a real-world online pharmacy with role-based access, medicine catalog, inventory tracking, cart system, prescription enforcement, and order pipeline.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C++ using OOAD and OOP concepts like inheritance, polymorphism, encapsulation, and abstraction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51459" y="2489043"/>
            <a:ext cx="2697480" cy="20170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51459" y="2399177"/>
            <a:ext cx="2697480" cy="82296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4339" y="2435753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8619" y="2959207"/>
            <a:ext cx="2423160" cy="14036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anose="020F0502020204030204" pitchFamily="34" charset="0"/>
                <a:ea typeface="Calibri" pitchFamily="34" charset="-122"/>
                <a:cs typeface="Calibri" pitchFamily="34" charset="-120"/>
              </a:rPr>
              <a:t>3 distinct user roles: Admin, Doctor, and Customer— each with dedicated menus and permissions enforced at runtime.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anose="020F0502020204030204" pitchFamily="34" charset="0"/>
                <a:ea typeface="Calibri" pitchFamily="34" charset="-122"/>
                <a:cs typeface="Calibri" pitchFamily="34" charset="-120"/>
              </a:rPr>
              <a:t>Password verification and update functionality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anose="020F0502020204030204" pitchFamily="34" charset="0"/>
                <a:ea typeface="Calibri" pitchFamily="34" charset="-122"/>
                <a:cs typeface="Calibri" pitchFamily="34" charset="-120"/>
              </a:rPr>
              <a:t>Maintains a unique user id using a static counter</a:t>
            </a:r>
          </a:p>
        </p:txBody>
      </p:sp>
      <p:sp>
        <p:nvSpPr>
          <p:cNvPr id="17" name="Text 1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FA3"/>
                </a:solidFill>
              </a:rPr>
              <a:t>Key Features of Project</a:t>
            </a:r>
            <a:endParaRPr lang="en-US" sz="1000" dirty="0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59747E8D-4EDC-DE04-D1CD-EC2F678A0C64}"/>
              </a:ext>
            </a:extLst>
          </p:cNvPr>
          <p:cNvSpPr/>
          <p:nvPr/>
        </p:nvSpPr>
        <p:spPr>
          <a:xfrm>
            <a:off x="3223260" y="2489043"/>
            <a:ext cx="2697480" cy="20170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F3219CC3-348B-FCB2-7E0F-75E89920FC25}"/>
              </a:ext>
            </a:extLst>
          </p:cNvPr>
          <p:cNvSpPr/>
          <p:nvPr/>
        </p:nvSpPr>
        <p:spPr>
          <a:xfrm>
            <a:off x="3223260" y="2399177"/>
            <a:ext cx="2697480" cy="82296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2EE22E5E-FC98-F327-D405-08B455929E82}"/>
              </a:ext>
            </a:extLst>
          </p:cNvPr>
          <p:cNvSpPr/>
          <p:nvPr/>
        </p:nvSpPr>
        <p:spPr>
          <a:xfrm>
            <a:off x="3406140" y="2435753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0B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 and Order Lifecycle</a:t>
            </a:r>
            <a:endParaRPr lang="en-US" sz="13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3D4C90EE-B77C-D444-4FAD-B7496EF8414D}"/>
              </a:ext>
            </a:extLst>
          </p:cNvPr>
          <p:cNvSpPr/>
          <p:nvPr/>
        </p:nvSpPr>
        <p:spPr>
          <a:xfrm>
            <a:off x="3360420" y="3041502"/>
            <a:ext cx="2423160" cy="13788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All Medicines are categorized as OTC or Prescription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>
                <a:latin typeface="Calibri" panose="020F0502020204030204" pitchFamily="34" charset="0"/>
                <a:cs typeface="Calibri" panose="020F0502020204030204" pitchFamily="34" charset="0"/>
              </a:rPr>
              <a:t>Orders track medicine ID, quantity, and delivery location in one object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Three-stage status pipeline — Processing → Shipped → Delivered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B6637B4C-95C2-81FA-F256-2768EB51F26E}"/>
              </a:ext>
            </a:extLst>
          </p:cNvPr>
          <p:cNvSpPr/>
          <p:nvPr/>
        </p:nvSpPr>
        <p:spPr>
          <a:xfrm>
            <a:off x="6103620" y="2481473"/>
            <a:ext cx="2697480" cy="20170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3029526E-7BA3-9BE6-60A9-34225F95D112}"/>
              </a:ext>
            </a:extLst>
          </p:cNvPr>
          <p:cNvSpPr/>
          <p:nvPr/>
        </p:nvSpPr>
        <p:spPr>
          <a:xfrm>
            <a:off x="6103620" y="2391607"/>
            <a:ext cx="2697480" cy="82296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9B6BB0C7-9656-8460-77CF-9DC2F4BD5507}"/>
              </a:ext>
            </a:extLst>
          </p:cNvPr>
          <p:cNvSpPr/>
          <p:nvPr/>
        </p:nvSpPr>
        <p:spPr>
          <a:xfrm>
            <a:off x="6286500" y="2428183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0B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&amp; Exception Handling</a:t>
            </a:r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EB5BA164-211B-5D4D-D776-4E82D97CBDC0}"/>
              </a:ext>
            </a:extLst>
          </p:cNvPr>
          <p:cNvSpPr/>
          <p:nvPr/>
        </p:nvSpPr>
        <p:spPr>
          <a:xfrm>
            <a:off x="6240780" y="3252866"/>
            <a:ext cx="2423160" cy="11599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Customers can add and remove medicines from a personal cart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Duplicate medicines are automatically prevented from being added to the cart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Meaningful error messages are shown for missing medicines, and out-of-stock items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790D3-3E01-ECF4-50ED-BA8996AC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5A22B06-D8AD-5593-8366-14C0A25D2B37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1F08380-562E-E900-D74E-9C2BD732F101}"/>
              </a:ext>
            </a:extLst>
          </p:cNvPr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</a:rPr>
              <a:t>USE OF OOP IN PROJECT</a:t>
            </a: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A1C3A75-3CEB-C951-7620-CF2A33DF5887}"/>
              </a:ext>
            </a:extLst>
          </p:cNvPr>
          <p:cNvSpPr/>
          <p:nvPr/>
        </p:nvSpPr>
        <p:spPr>
          <a:xfrm>
            <a:off x="790945" y="1212294"/>
            <a:ext cx="16459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49" name="Shape 3">
            <a:extLst>
              <a:ext uri="{FF2B5EF4-FFF2-40B4-BE49-F238E27FC236}">
                <a16:creationId xmlns:a16="http://schemas.microsoft.com/office/drawing/2014/main" id="{6D406804-E430-F62F-0560-D0916E83964B}"/>
              </a:ext>
            </a:extLst>
          </p:cNvPr>
          <p:cNvSpPr/>
          <p:nvPr/>
        </p:nvSpPr>
        <p:spPr>
          <a:xfrm>
            <a:off x="150865" y="856504"/>
            <a:ext cx="4206240" cy="20529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3A291A65-D218-86BF-B5B5-372937F20D44}"/>
              </a:ext>
            </a:extLst>
          </p:cNvPr>
          <p:cNvSpPr/>
          <p:nvPr/>
        </p:nvSpPr>
        <p:spPr>
          <a:xfrm>
            <a:off x="150865" y="766637"/>
            <a:ext cx="4206240" cy="83761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E8A81F64-37DA-9CC0-EB40-2F47F4FA57E6}"/>
              </a:ext>
            </a:extLst>
          </p:cNvPr>
          <p:cNvSpPr/>
          <p:nvPr/>
        </p:nvSpPr>
        <p:spPr>
          <a:xfrm>
            <a:off x="333744" y="803213"/>
            <a:ext cx="3778487" cy="4653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Encapsulation: </a:t>
            </a:r>
            <a:endParaRPr lang="en-US" sz="1300" dirty="0"/>
          </a:p>
        </p:txBody>
      </p:sp>
      <p:sp>
        <p:nvSpPr>
          <p:cNvPr id="52" name="Text 6">
            <a:extLst>
              <a:ext uri="{FF2B5EF4-FFF2-40B4-BE49-F238E27FC236}">
                <a16:creationId xmlns:a16="http://schemas.microsoft.com/office/drawing/2014/main" id="{064E5867-101E-C098-12A7-1A1A32AF3A4D}"/>
              </a:ext>
            </a:extLst>
          </p:cNvPr>
          <p:cNvSpPr/>
          <p:nvPr/>
        </p:nvSpPr>
        <p:spPr>
          <a:xfrm>
            <a:off x="333743" y="1288905"/>
            <a:ext cx="3778487" cy="1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latin typeface="Calibri" panose="020F0502020204030204" pitchFamily="34" charset="0"/>
                <a:ea typeface="Calibri" pitchFamily="34" charset="-122"/>
                <a:cs typeface="Calibri" pitchFamily="34" charset="-120"/>
              </a:rPr>
              <a:t>Focuses on wrapping data members and member functions into a single unit with restricted access.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User data like passwords and IDs are kept private and accessed only through dedicated methods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Medicine and order details are bundled within their respective classes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1A2E35"/>
              </a:solidFill>
              <a:latin typeface="Calibri" panose="020F0502020204030204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3" name="Text 4">
            <a:extLst>
              <a:ext uri="{FF2B5EF4-FFF2-40B4-BE49-F238E27FC236}">
                <a16:creationId xmlns:a16="http://schemas.microsoft.com/office/drawing/2014/main" id="{782E31FD-A5C4-E195-6BAE-A15E90EE7E11}"/>
              </a:ext>
            </a:extLst>
          </p:cNvPr>
          <p:cNvSpPr/>
          <p:nvPr/>
        </p:nvSpPr>
        <p:spPr>
          <a:xfrm>
            <a:off x="5396996" y="1212294"/>
            <a:ext cx="16459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54" name="Shape 3">
            <a:extLst>
              <a:ext uri="{FF2B5EF4-FFF2-40B4-BE49-F238E27FC236}">
                <a16:creationId xmlns:a16="http://schemas.microsoft.com/office/drawing/2014/main" id="{0555C8CF-D292-CFF9-FC59-E17B6DD9474F}"/>
              </a:ext>
            </a:extLst>
          </p:cNvPr>
          <p:cNvSpPr/>
          <p:nvPr/>
        </p:nvSpPr>
        <p:spPr>
          <a:xfrm>
            <a:off x="4756916" y="856504"/>
            <a:ext cx="4206240" cy="20529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4">
            <a:extLst>
              <a:ext uri="{FF2B5EF4-FFF2-40B4-BE49-F238E27FC236}">
                <a16:creationId xmlns:a16="http://schemas.microsoft.com/office/drawing/2014/main" id="{8D152F8D-7D79-A0CB-A52B-45297652796B}"/>
              </a:ext>
            </a:extLst>
          </p:cNvPr>
          <p:cNvSpPr/>
          <p:nvPr/>
        </p:nvSpPr>
        <p:spPr>
          <a:xfrm>
            <a:off x="4756916" y="766637"/>
            <a:ext cx="4206240" cy="83761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">
            <a:extLst>
              <a:ext uri="{FF2B5EF4-FFF2-40B4-BE49-F238E27FC236}">
                <a16:creationId xmlns:a16="http://schemas.microsoft.com/office/drawing/2014/main" id="{46CD2522-236A-6C8B-16AF-F7D6A788B1C8}"/>
              </a:ext>
            </a:extLst>
          </p:cNvPr>
          <p:cNvSpPr/>
          <p:nvPr/>
        </p:nvSpPr>
        <p:spPr>
          <a:xfrm>
            <a:off x="4939795" y="803213"/>
            <a:ext cx="3778487" cy="4653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Abstraction</a:t>
            </a:r>
            <a:endParaRPr lang="en-US" sz="1300" dirty="0"/>
          </a:p>
        </p:txBody>
      </p:sp>
      <p:sp>
        <p:nvSpPr>
          <p:cNvPr id="57" name="Text 6">
            <a:extLst>
              <a:ext uri="{FF2B5EF4-FFF2-40B4-BE49-F238E27FC236}">
                <a16:creationId xmlns:a16="http://schemas.microsoft.com/office/drawing/2014/main" id="{4A5867AC-5E76-E621-8E2A-A61D215A3866}"/>
              </a:ext>
            </a:extLst>
          </p:cNvPr>
          <p:cNvSpPr/>
          <p:nvPr/>
        </p:nvSpPr>
        <p:spPr>
          <a:xfrm>
            <a:off x="4939794" y="1559504"/>
            <a:ext cx="3778487" cy="12000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latin typeface="Calibri" panose="020F0502020204030204" pitchFamily="34" charset="0"/>
                <a:ea typeface="Calibri" pitchFamily="34" charset="-122"/>
                <a:cs typeface="Calibri" pitchFamily="34" charset="-120"/>
              </a:rPr>
              <a:t>Concept of hiding implementation details and exposing only the necessary features of an object.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Calibri" pitchFamily="34" charset="-122"/>
                <a:cs typeface="Calibri" pitchFamily="34" charset="-120"/>
              </a:rPr>
              <a:t>The base User class defines a common interface without revealing role-specific details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>
                <a:latin typeface="Calibri" panose="020F0502020204030204" pitchFamily="34" charset="0"/>
                <a:cs typeface="Calibri" panose="020F0502020204030204" pitchFamily="34" charset="0"/>
              </a:rPr>
              <a:t>Customers interact with a simple cart system without knowing how it manages medicines internally with complex calls and implementation details hidden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IN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1A2E35"/>
              </a:solidFill>
              <a:latin typeface="Calibri" panose="020F0502020204030204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3" name="Text 4">
            <a:extLst>
              <a:ext uri="{FF2B5EF4-FFF2-40B4-BE49-F238E27FC236}">
                <a16:creationId xmlns:a16="http://schemas.microsoft.com/office/drawing/2014/main" id="{D5020D49-1AED-CA07-5A13-85D4ACB26DF2}"/>
              </a:ext>
            </a:extLst>
          </p:cNvPr>
          <p:cNvSpPr/>
          <p:nvPr/>
        </p:nvSpPr>
        <p:spPr>
          <a:xfrm>
            <a:off x="790945" y="3413255"/>
            <a:ext cx="16459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64" name="Shape 3">
            <a:extLst>
              <a:ext uri="{FF2B5EF4-FFF2-40B4-BE49-F238E27FC236}">
                <a16:creationId xmlns:a16="http://schemas.microsoft.com/office/drawing/2014/main" id="{024FFB2F-815E-5C32-1A4B-2C2997941AC6}"/>
              </a:ext>
            </a:extLst>
          </p:cNvPr>
          <p:cNvSpPr/>
          <p:nvPr/>
        </p:nvSpPr>
        <p:spPr>
          <a:xfrm>
            <a:off x="150865" y="3057465"/>
            <a:ext cx="4206240" cy="20529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88F45E04-DD68-A327-9D26-95DCA1867817}"/>
              </a:ext>
            </a:extLst>
          </p:cNvPr>
          <p:cNvSpPr/>
          <p:nvPr/>
        </p:nvSpPr>
        <p:spPr>
          <a:xfrm>
            <a:off x="150865" y="2967598"/>
            <a:ext cx="4206240" cy="83761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5">
            <a:extLst>
              <a:ext uri="{FF2B5EF4-FFF2-40B4-BE49-F238E27FC236}">
                <a16:creationId xmlns:a16="http://schemas.microsoft.com/office/drawing/2014/main" id="{A3BE0843-71BA-DA75-6994-A5C3ADB776A9}"/>
              </a:ext>
            </a:extLst>
          </p:cNvPr>
          <p:cNvSpPr/>
          <p:nvPr/>
        </p:nvSpPr>
        <p:spPr>
          <a:xfrm>
            <a:off x="333744" y="3004174"/>
            <a:ext cx="3778487" cy="4653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</a:t>
            </a:r>
            <a:endParaRPr lang="en-US" sz="1300" dirty="0"/>
          </a:p>
        </p:txBody>
      </p:sp>
      <p:sp>
        <p:nvSpPr>
          <p:cNvPr id="67" name="Text 6">
            <a:extLst>
              <a:ext uri="{FF2B5EF4-FFF2-40B4-BE49-F238E27FC236}">
                <a16:creationId xmlns:a16="http://schemas.microsoft.com/office/drawing/2014/main" id="{ABB295AC-B6FB-7BB9-DF5F-FACB029D0FBB}"/>
              </a:ext>
            </a:extLst>
          </p:cNvPr>
          <p:cNvSpPr/>
          <p:nvPr/>
        </p:nvSpPr>
        <p:spPr>
          <a:xfrm>
            <a:off x="333744" y="3467347"/>
            <a:ext cx="3778487" cy="13586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rgbClr val="1A2E35"/>
                </a:solidFill>
                <a:latin typeface="Calibri" panose="020F0502020204030204" pitchFamily="34" charset="0"/>
                <a:ea typeface="Calibri" pitchFamily="34" charset="-122"/>
                <a:cs typeface="Calibri" pitchFamily="34" charset="-120"/>
              </a:rPr>
              <a:t>Allowing a class to derive properties and behavior from an existing class.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anose="020F0502020204030204" pitchFamily="34" charset="0"/>
                <a:ea typeface="Calibri" pitchFamily="34" charset="-122"/>
                <a:cs typeface="Calibri" pitchFamily="34" charset="-120"/>
              </a:rPr>
              <a:t>Admin, Doctor, and Customer all inherit common properties like username and password from User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A2E35"/>
                </a:solidFill>
                <a:latin typeface="Calibri" panose="020F0502020204030204" pitchFamily="34" charset="0"/>
                <a:ea typeface="Calibri" pitchFamily="34" charset="-122"/>
                <a:cs typeface="Calibri" pitchFamily="34" charset="-120"/>
              </a:rPr>
              <a:t>OTC and Prescription medicines share a base Medicine class, avoiding repeated code</a:t>
            </a:r>
          </a:p>
        </p:txBody>
      </p:sp>
      <p:sp>
        <p:nvSpPr>
          <p:cNvPr id="68" name="Text 4">
            <a:extLst>
              <a:ext uri="{FF2B5EF4-FFF2-40B4-BE49-F238E27FC236}">
                <a16:creationId xmlns:a16="http://schemas.microsoft.com/office/drawing/2014/main" id="{F30C99F4-D169-675D-F2AF-E8AC6EA00DB2}"/>
              </a:ext>
            </a:extLst>
          </p:cNvPr>
          <p:cNvSpPr/>
          <p:nvPr/>
        </p:nvSpPr>
        <p:spPr>
          <a:xfrm>
            <a:off x="5396996" y="3413255"/>
            <a:ext cx="16459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69" name="Shape 3">
            <a:extLst>
              <a:ext uri="{FF2B5EF4-FFF2-40B4-BE49-F238E27FC236}">
                <a16:creationId xmlns:a16="http://schemas.microsoft.com/office/drawing/2014/main" id="{93CC50EE-9842-E26A-C321-2B7F9B618502}"/>
              </a:ext>
            </a:extLst>
          </p:cNvPr>
          <p:cNvSpPr/>
          <p:nvPr/>
        </p:nvSpPr>
        <p:spPr>
          <a:xfrm>
            <a:off x="4756916" y="3057465"/>
            <a:ext cx="4206240" cy="20529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AAB755AB-B2B7-5879-C5BD-A90C1A92AEC9}"/>
              </a:ext>
            </a:extLst>
          </p:cNvPr>
          <p:cNvSpPr/>
          <p:nvPr/>
        </p:nvSpPr>
        <p:spPr>
          <a:xfrm>
            <a:off x="4756916" y="2967598"/>
            <a:ext cx="4206240" cy="83761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5">
            <a:extLst>
              <a:ext uri="{FF2B5EF4-FFF2-40B4-BE49-F238E27FC236}">
                <a16:creationId xmlns:a16="http://schemas.microsoft.com/office/drawing/2014/main" id="{493E274C-059F-9532-659F-BD9DE7CE7B87}"/>
              </a:ext>
            </a:extLst>
          </p:cNvPr>
          <p:cNvSpPr/>
          <p:nvPr/>
        </p:nvSpPr>
        <p:spPr>
          <a:xfrm>
            <a:off x="4939795" y="3004174"/>
            <a:ext cx="3778487" cy="4653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</a:t>
            </a:r>
            <a:endParaRPr lang="en-US" sz="1300" dirty="0"/>
          </a:p>
        </p:txBody>
      </p:sp>
      <p:sp>
        <p:nvSpPr>
          <p:cNvPr id="72" name="Text 6">
            <a:extLst>
              <a:ext uri="{FF2B5EF4-FFF2-40B4-BE49-F238E27FC236}">
                <a16:creationId xmlns:a16="http://schemas.microsoft.com/office/drawing/2014/main" id="{127E00B8-10E5-929E-61FC-83B255B813DF}"/>
              </a:ext>
            </a:extLst>
          </p:cNvPr>
          <p:cNvSpPr/>
          <p:nvPr/>
        </p:nvSpPr>
        <p:spPr>
          <a:xfrm>
            <a:off x="4939793" y="3920774"/>
            <a:ext cx="3778487" cy="1025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rgbClr val="1A2E35"/>
                </a:solidFill>
                <a:latin typeface="Calibri" panose="020F0502020204030204" pitchFamily="34" charset="0"/>
                <a:ea typeface="Calibri" pitchFamily="34" charset="-122"/>
                <a:cs typeface="Calibri" pitchFamily="34" charset="-120"/>
              </a:rPr>
              <a:t>A core concept where a single function or entity can take up multiple forms based on the situation at 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>
                <a:latin typeface="Calibri" panose="020F0502020204030204" pitchFamily="34" charset="0"/>
                <a:cs typeface="Calibri" panose="020F0502020204030204" pitchFamily="34" charset="0"/>
              </a:rPr>
              <a:t>Each user role displays its own information differently despite sharing the same method name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>
                <a:latin typeface="Calibri" panose="020F0502020204030204" pitchFamily="34" charset="0"/>
                <a:cs typeface="Calibri" panose="020F0502020204030204" pitchFamily="34" charset="0"/>
              </a:rPr>
              <a:t>OTC and Prescription medicines print their own type label through the same display call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IN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i="1" dirty="0">
              <a:solidFill>
                <a:srgbClr val="1A2E35"/>
              </a:solidFill>
              <a:latin typeface="Calibri" panose="020F0502020204030204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75423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DD7D-7EE0-9AA6-60B3-732C5F06D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08EFDF0-F8EB-AEC3-4139-4D5167EABDF9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1791F11-5E7A-2E37-58A7-CFEA5368DDB8}"/>
              </a:ext>
            </a:extLst>
          </p:cNvPr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</a:rPr>
              <a:t>UML CLASS DIAGRAM</a:t>
            </a:r>
            <a:endParaRPr lang="en-US" sz="1400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E53768A5-82E1-C84A-A0EB-8E6E7DC90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75" y="1173990"/>
            <a:ext cx="8877925" cy="303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562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</a:rPr>
              <a:t>STATE MACHINE DIAGRAMS</a:t>
            </a:r>
            <a:endParaRPr lang="en-US" sz="1400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577CA1E8-F344-18E4-838E-BF7B5DB2C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21895"/>
            <a:ext cx="2276156" cy="329971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94E397FC-66B0-D105-D4E3-5B34BB9709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1859" y="921895"/>
            <a:ext cx="3380281" cy="2102512"/>
          </a:xfrm>
          <a:prstGeom prst="rect">
            <a:avLst/>
          </a:prstGeom>
        </p:spPr>
      </p:pic>
      <p:sp>
        <p:nvSpPr>
          <p:cNvPr id="55" name="Text 5">
            <a:extLst>
              <a:ext uri="{FF2B5EF4-FFF2-40B4-BE49-F238E27FC236}">
                <a16:creationId xmlns:a16="http://schemas.microsoft.com/office/drawing/2014/main" id="{71B5DB3B-E3E6-9494-6E4F-AD721CA76F8D}"/>
              </a:ext>
            </a:extLst>
          </p:cNvPr>
          <p:cNvSpPr/>
          <p:nvPr/>
        </p:nvSpPr>
        <p:spPr>
          <a:xfrm>
            <a:off x="872845" y="4295922"/>
            <a:ext cx="1261986" cy="4653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Object</a:t>
            </a:r>
            <a:endParaRPr lang="en-US" sz="1300" dirty="0"/>
          </a:p>
        </p:txBody>
      </p:sp>
      <p:sp>
        <p:nvSpPr>
          <p:cNvPr id="56" name="Text 5">
            <a:extLst>
              <a:ext uri="{FF2B5EF4-FFF2-40B4-BE49-F238E27FC236}">
                <a16:creationId xmlns:a16="http://schemas.microsoft.com/office/drawing/2014/main" id="{204A15AB-7DED-7D32-6C55-1DA8CF3BBF4D}"/>
              </a:ext>
            </a:extLst>
          </p:cNvPr>
          <p:cNvSpPr/>
          <p:nvPr/>
        </p:nvSpPr>
        <p:spPr>
          <a:xfrm>
            <a:off x="3941006" y="3260502"/>
            <a:ext cx="1261986" cy="4653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Object</a:t>
            </a:r>
            <a:endParaRPr lang="en-US" sz="13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2D955F1E-862D-3E59-813A-8E7C390AD2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8354" y="995113"/>
            <a:ext cx="2825646" cy="3226492"/>
          </a:xfrm>
          <a:prstGeom prst="rect">
            <a:avLst/>
          </a:prstGeom>
        </p:spPr>
      </p:pic>
      <p:sp>
        <p:nvSpPr>
          <p:cNvPr id="58" name="Text 5">
            <a:extLst>
              <a:ext uri="{FF2B5EF4-FFF2-40B4-BE49-F238E27FC236}">
                <a16:creationId xmlns:a16="http://schemas.microsoft.com/office/drawing/2014/main" id="{D6ED8401-B537-5C0B-3D77-669DAB5ADAD5}"/>
              </a:ext>
            </a:extLst>
          </p:cNvPr>
          <p:cNvSpPr/>
          <p:nvPr/>
        </p:nvSpPr>
        <p:spPr>
          <a:xfrm>
            <a:off x="7009169" y="4295922"/>
            <a:ext cx="1261986" cy="4653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Object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0115E-742D-E371-8D61-3CE3A30E0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9E6DC4-098A-1438-7508-F5E18C6BF829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6C8CF4E-55C7-3B8C-EABF-4C4976A1A7A8}"/>
              </a:ext>
            </a:extLst>
          </p:cNvPr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</a:rPr>
              <a:t>USE CASE DIAGRAMS</a:t>
            </a: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C9368C-3867-093F-DD7C-9BFEEFC0B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57940"/>
            <a:ext cx="3711565" cy="22248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BCBF2A-EA7D-7640-6AF3-F06C3363B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4991" y="757940"/>
            <a:ext cx="4635339" cy="22248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4B37A8-66BF-675D-B246-224EE2FED4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2924" y="3110850"/>
            <a:ext cx="3518940" cy="203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06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408D2-BD04-701C-7524-F943F3F90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670449E-2A3B-FBC1-5B00-E006B9266555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91A1AFE-8752-8068-E74D-71D09EAC1F3A}"/>
              </a:ext>
            </a:extLst>
          </p:cNvPr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</a:rPr>
              <a:t>ACTIVITY DIAGRAMS</a:t>
            </a: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8156BA-1889-70D0-692A-1E13DB21B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02" y="850691"/>
            <a:ext cx="2932076" cy="40036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68DAF7-D803-9F53-9BF3-CB2DB4E6B7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4041" y="850691"/>
            <a:ext cx="2819483" cy="40036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F0BE6E-CF43-0023-4B02-73551FB7E0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87" y="1318815"/>
            <a:ext cx="2871707" cy="306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9184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17AD9-124D-E57A-91EE-23A03E198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A6D5283-28E8-2ED6-69D0-4BF0B4C0F553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3F6810-05C4-291A-B16C-9CAFCD156649}"/>
              </a:ext>
            </a:extLst>
          </p:cNvPr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</a:rPr>
              <a:t>SEQUENCE DIAGRAM</a:t>
            </a: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B6A127-A14C-DAE6-BE67-D67F854419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388" y="901173"/>
            <a:ext cx="4207224" cy="4017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677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A94D6-B6B4-6BE0-1A2B-45968917A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DCEAEA4-A561-6B35-3373-CB8DC1B31FC4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6CBB818-2BC0-65B4-7F15-5AE933E654C6}"/>
              </a:ext>
            </a:extLst>
          </p:cNvPr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</a:rPr>
              <a:t>COMMUNICATION DIAGRAM</a:t>
            </a:r>
            <a:endParaRPr lang="en-US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5CF97B-3021-23B9-0B04-709CCAFBF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840214"/>
            <a:ext cx="7772400" cy="421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783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E5C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</a:rPr>
              <a:t>STL AND DATA STRUCTURES USED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5303520" cy="384048"/>
          </a:xfrm>
          <a:prstGeom prst="rect">
            <a:avLst/>
          </a:prstGeom>
          <a:solidFill>
            <a:srgbClr val="2DC6AD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77724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D40"/>
                </a:solidFill>
              </a:rPr>
              <a:t>Variable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645920" y="77724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D40"/>
                </a:solidFill>
              </a:rPr>
              <a:t>Type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46120" y="77724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D40"/>
                </a:solidFill>
              </a:rPr>
              <a:t>Purpose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188720"/>
            <a:ext cx="5303520" cy="530352"/>
          </a:xfrm>
          <a:prstGeom prst="rect">
            <a:avLst/>
          </a:prstGeom>
          <a:solidFill>
            <a:srgbClr val="0E5C63"/>
          </a:solidFill>
          <a:ln w="12700">
            <a:solidFill>
              <a:srgbClr val="1493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84048" y="122529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C6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664208" y="1225296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vector&lt;User*&gt;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18688" y="12252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registered users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1755648"/>
            <a:ext cx="5303520" cy="530352"/>
          </a:xfrm>
          <a:prstGeom prst="rect">
            <a:avLst/>
          </a:prstGeom>
          <a:solidFill>
            <a:srgbClr val="0B3D40"/>
          </a:solidFill>
          <a:ln w="12700">
            <a:solidFill>
              <a:srgbClr val="1493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4048" y="179222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C6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medicines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664208" y="1792224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unordered_map&lt;int,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Medicine*&gt;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18688" y="17922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keyed by medicine ID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322576"/>
            <a:ext cx="5303520" cy="530352"/>
          </a:xfrm>
          <a:prstGeom prst="rect">
            <a:avLst/>
          </a:prstGeom>
          <a:solidFill>
            <a:srgbClr val="0E5C63"/>
          </a:solidFill>
          <a:ln w="12700">
            <a:solidFill>
              <a:srgbClr val="1493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84048" y="2359152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C6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664208" y="2359152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unordered_map&lt;int,int&gt;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218688" y="235915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count per medicine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2889504"/>
            <a:ext cx="5303520" cy="530352"/>
          </a:xfrm>
          <a:prstGeom prst="rect">
            <a:avLst/>
          </a:prstGeom>
          <a:solidFill>
            <a:srgbClr val="0B3D40"/>
          </a:solidFill>
          <a:ln w="12700">
            <a:solidFill>
              <a:srgbClr val="1493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4048" y="29260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C6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664208" y="29260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unordered_map&lt;int,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vector&lt;Orders&gt;&gt;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18688" y="2926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grouped by customer ID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456432"/>
            <a:ext cx="5303520" cy="530352"/>
          </a:xfrm>
          <a:prstGeom prst="rect">
            <a:avLst/>
          </a:prstGeom>
          <a:solidFill>
            <a:srgbClr val="0E5C63"/>
          </a:solidFill>
          <a:ln w="12700">
            <a:solidFill>
              <a:srgbClr val="1493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4048" y="349300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C6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prescriptions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664208" y="3493008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unordered_map&lt;int,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vector&lt;int&gt;&gt;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218688" y="34930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Prescribed medicine IDs per customer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023360"/>
            <a:ext cx="5303520" cy="530352"/>
          </a:xfrm>
          <a:prstGeom prst="rect">
            <a:avLst/>
          </a:prstGeom>
          <a:solidFill>
            <a:srgbClr val="0B3D40"/>
          </a:solidFill>
          <a:ln w="12700">
            <a:solidFill>
              <a:srgbClr val="1493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84048" y="405993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C6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664208" y="4059936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map&lt;int, Medicine*&gt;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218688" y="405993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cart; prevents duplicates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852160" y="914400"/>
            <a:ext cx="3017520" cy="1170432"/>
          </a:xfrm>
          <a:prstGeom prst="rect">
            <a:avLst/>
          </a:prstGeom>
          <a:solidFill>
            <a:srgbClr val="0E5C63"/>
          </a:solidFill>
          <a:ln w="12700">
            <a:solidFill>
              <a:srgbClr val="14939E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852160" y="914400"/>
            <a:ext cx="54864" cy="1170432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035040" y="1005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C6AD"/>
                </a:solidFill>
              </a:rPr>
              <a:t>Static ID Counters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035040" y="1371600"/>
            <a:ext cx="2651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Medicine::lastAdd, Orders::lastAdd, User::lastAdd — auto-increment shared IDs across all instances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852160" y="2267712"/>
            <a:ext cx="3017520" cy="1170432"/>
          </a:xfrm>
          <a:prstGeom prst="rect">
            <a:avLst/>
          </a:prstGeom>
          <a:solidFill>
            <a:srgbClr val="0E5C63"/>
          </a:solidFill>
          <a:ln w="12700">
            <a:solidFill>
              <a:srgbClr val="14939E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852160" y="2267712"/>
            <a:ext cx="54864" cy="1170432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035040" y="2359152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C6AD"/>
                </a:solidFill>
              </a:rPr>
              <a:t>O(1) Lookup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035040" y="2724912"/>
            <a:ext cx="2651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unordered_map used for medicines, inventory, orders, and prescriptions — fast access by integer key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852160" y="3621024"/>
            <a:ext cx="3017520" cy="1170432"/>
          </a:xfrm>
          <a:prstGeom prst="rect">
            <a:avLst/>
          </a:prstGeom>
          <a:solidFill>
            <a:srgbClr val="0E5C63"/>
          </a:solidFill>
          <a:ln w="12700">
            <a:solidFill>
              <a:srgbClr val="14939E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852160" y="3621024"/>
            <a:ext cx="54864" cy="1170432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035040" y="371246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C6AD"/>
                </a:solidFill>
              </a:rPr>
              <a:t>Memory Note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035040" y="4078224"/>
            <a:ext cx="2651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User* and Medicine* are heap-allocated via new but never deleted — a known memory leak in the current implementation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</a:rPr>
              <a:t>EXCEPTION HANDLING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35"/>
                </a:solidFill>
              </a:rPr>
              <a:t>All three exception classes inherit from std::exception and override what() with descriptive C-string messages.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8412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EC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64008" cy="100584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53619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3D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InvalidNoException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1975104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E35"/>
                </a:solidFill>
              </a:rPr>
              <a:t>Thrown when: Negative value entered for price or quantity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858000" y="1719072"/>
            <a:ext cx="1828800" cy="475488"/>
          </a:xfrm>
          <a:prstGeom prst="roundRect">
            <a:avLst>
              <a:gd name="adj" fmla="val 15385"/>
            </a:avLst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0" y="171907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C6AD"/>
                </a:solidFill>
              </a:rPr>
              <a:t>Caught in: processAdmin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06040"/>
            <a:ext cx="8412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EC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606040"/>
            <a:ext cx="64008" cy="100584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267919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3D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MedicineNotFoundException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94360" y="3118104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E35"/>
                </a:solidFill>
              </a:rPr>
              <a:t>Thrown when: Medicine ID doesn't exist in the catalog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0" y="2862072"/>
            <a:ext cx="1828800" cy="475488"/>
          </a:xfrm>
          <a:prstGeom prst="roundRect">
            <a:avLst>
              <a:gd name="adj" fmla="val 15385"/>
            </a:avLst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0" y="286207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C6AD"/>
                </a:solidFill>
              </a:rPr>
              <a:t>Caught in: processCustomer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749040"/>
            <a:ext cx="8412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EC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749040"/>
            <a:ext cx="64008" cy="1005840"/>
          </a:xfrm>
          <a:prstGeom prst="rect">
            <a:avLst/>
          </a:prstGeom>
          <a:solidFill>
            <a:srgbClr val="F1C40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382219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3D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OutOfStockException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94360" y="4261104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E35"/>
                </a:solidFill>
              </a:rPr>
              <a:t>Thrown when: Medicine's inventory quantity is zero or less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0" y="4005072"/>
            <a:ext cx="1828800" cy="475488"/>
          </a:xfrm>
          <a:prstGeom prst="roundRect">
            <a:avLst>
              <a:gd name="adj" fmla="val 15385"/>
            </a:avLst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58000" y="400507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C6AD"/>
                </a:solidFill>
              </a:rPr>
              <a:t>Caught in: processCustomer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0B3D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466344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E8EC"/>
                </a:solidFill>
              </a:rPr>
              <a:t>Caught selectively at role-handler boundaries to prevent crashes and provide user-friendly error messages.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E5C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</a:rPr>
              <a:t>PROJECT FILE STRUCTURE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21792"/>
          </a:xfrm>
          <a:prstGeom prst="rect">
            <a:avLst/>
          </a:prstGeom>
          <a:solidFill>
            <a:srgbClr val="0E5C63"/>
          </a:solidFill>
          <a:ln w="12700">
            <a:solidFill>
              <a:srgbClr val="1493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54864" cy="621792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058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C6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errors.h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26080" y="10058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exception classes for domain-specific error handling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73352"/>
            <a:ext cx="8412480" cy="621792"/>
          </a:xfrm>
          <a:prstGeom prst="rect">
            <a:avLst/>
          </a:prstGeom>
          <a:solidFill>
            <a:srgbClr val="0B3D40"/>
          </a:solidFill>
          <a:ln w="12700">
            <a:solidFill>
              <a:srgbClr val="1493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673352"/>
            <a:ext cx="54864" cy="621792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1764792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C6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medicine.h / .cpp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1764792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 class hierarchy (OTC &amp; Prescription types)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432304"/>
            <a:ext cx="8412480" cy="621792"/>
          </a:xfrm>
          <a:prstGeom prst="rect">
            <a:avLst/>
          </a:prstGeom>
          <a:solidFill>
            <a:srgbClr val="0E5C63"/>
          </a:solidFill>
          <a:ln w="12700">
            <a:solidFill>
              <a:srgbClr val="1493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432304"/>
            <a:ext cx="54864" cy="621792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523744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C6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orders.h / .cpp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26080" y="2523744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class with status lifecycle tracking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191256"/>
            <a:ext cx="8412480" cy="621792"/>
          </a:xfrm>
          <a:prstGeom prst="rect">
            <a:avLst/>
          </a:prstGeom>
          <a:solidFill>
            <a:srgbClr val="0B3D40"/>
          </a:solidFill>
          <a:ln w="12700">
            <a:solidFill>
              <a:srgbClr val="1493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191256"/>
            <a:ext cx="54864" cy="621792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94360" y="3282696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C6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users.h / .cpp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926080" y="3282696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class hierarchy with role-based logic (Admin, Doctor, Customer)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950208"/>
            <a:ext cx="8412480" cy="621792"/>
          </a:xfrm>
          <a:prstGeom prst="rect">
            <a:avLst/>
          </a:prstGeom>
          <a:solidFill>
            <a:srgbClr val="0E5C63"/>
          </a:solidFill>
          <a:ln w="12700">
            <a:solidFill>
              <a:srgbClr val="1493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950208"/>
            <a:ext cx="54864" cy="621792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94360" y="404164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C6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26080" y="4041648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data, helper functions, role menus, and entry point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4572000"/>
          </a:xfrm>
          <a:prstGeom prst="ellipse">
            <a:avLst/>
          </a:prstGeom>
          <a:solidFill>
            <a:srgbClr val="0E5C63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4939E">
              <a:alpha val="3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2DC6AD"/>
                </a:solidFill>
              </a:rPr>
              <a:t>CONCLUSION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9144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e-commerce — OOP Project Summary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1737360"/>
            <a:ext cx="320040" cy="320040"/>
          </a:xfrm>
          <a:prstGeom prst="ellipse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40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164592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Full OOP Architecture — 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011680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8EC"/>
                </a:solidFill>
              </a:rPr>
              <a:t>Inheritance, pure virtual methods, polymorphism, and dynamic_cast throughout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542032"/>
            <a:ext cx="320040" cy="320040"/>
          </a:xfrm>
          <a:prstGeom prst="ellipse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254203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40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51560" y="2450592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STL-Powered Data Layer — 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51560" y="2816352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8EC"/>
                </a:solidFill>
              </a:rPr>
              <a:t>vector, unordered_map, and map chosen for correct semantics and O(1) performance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3346704"/>
            <a:ext cx="320040" cy="320040"/>
          </a:xfrm>
          <a:prstGeom prst="ellipse">
            <a:avLst/>
          </a:prstGeom>
          <a:solidFill>
            <a:srgbClr val="2DC6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334670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40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3255264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Role-Based Security — 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621024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8EC"/>
                </a:solidFill>
              </a:rPr>
              <a:t>Each user type accesses only its own menu; prescriptions enforce one-time Rx use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415137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40"/>
                </a:solidFill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788</Words>
  <Application>Microsoft Macintosh PowerPoint</Application>
  <PresentationFormat>On-screen Show (16:9)</PresentationFormat>
  <Paragraphs>132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Pharmacy e-commerce</dc:title>
  <dc:subject>PptxGenJS Presentation</dc:subject>
  <dc:creator>PptxGenJS</dc:creator>
  <cp:lastModifiedBy>Vishal Balasubramanian</cp:lastModifiedBy>
  <cp:revision>17</cp:revision>
  <dcterms:created xsi:type="dcterms:W3CDTF">2026-05-05T04:14:25Z</dcterms:created>
  <dcterms:modified xsi:type="dcterms:W3CDTF">2026-05-07T13:43:15Z</dcterms:modified>
</cp:coreProperties>
</file>